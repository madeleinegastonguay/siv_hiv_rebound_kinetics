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9" r:id="rId3"/>
    <p:sldId id="258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4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61C2"/>
    <a:srgbClr val="FC12A7"/>
    <a:srgbClr val="FCBB12"/>
    <a:srgbClr val="027DBB"/>
    <a:srgbClr val="CB27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94"/>
  </p:normalViewPr>
  <p:slideViewPr>
    <p:cSldViewPr snapToGrid="0">
      <p:cViewPr>
        <p:scale>
          <a:sx n="125" d="100"/>
          <a:sy n="125" d="100"/>
        </p:scale>
        <p:origin x="-920" y="144"/>
      </p:cViewPr>
      <p:guideLst>
        <p:guide orient="horz" pos="2160"/>
        <p:guide pos="34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B4A03-781E-77B8-AB72-42AE50A1D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072A48-A5E1-B0D0-D839-C4E19D800B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E81EE-EA86-D219-AB59-87501AF1E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F30B-87BB-A34C-9704-71B314E4E30C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D59FC-CB5E-C7CA-B9E7-DF4315B0F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4B6C6-47E8-38B1-01FC-9F6F3ED2D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581D-12A8-F44A-B2C4-E0C423F3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90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0BA1F-52F2-F40A-972E-5D0CF3DF2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D3E07-04C1-1442-2F5E-A93E714BE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FA676-40C5-C497-1C78-EFAF33015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F30B-87BB-A34C-9704-71B314E4E30C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BC75E-BF76-FB35-EA8C-E58501691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21217-845D-003D-9553-6BAC8DB61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581D-12A8-F44A-B2C4-E0C423F3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756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82B18-AC97-F272-1E8E-1E043FA66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8139F-B4DB-66FB-AC91-06A4E2DEE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EF09B-A039-5528-7422-5EA44AC6E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F30B-87BB-A34C-9704-71B314E4E30C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A13EA-CE1C-D112-87EE-DE96950E6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57358-2490-3A55-1C44-6EE8A3425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581D-12A8-F44A-B2C4-E0C423F3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11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E3A0D-30FD-8502-7B10-E884BC9B6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65010-A6AB-564E-6B62-EBAFB543F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DB225-5E39-2ED4-7C89-BDC1CE9AC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5F109-FB1F-9963-B8D7-3AD548DF3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F30B-87BB-A34C-9704-71B314E4E30C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9B222-2C03-FDB6-428D-0534A271A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0F9EA-109D-9420-B5F7-4608C91D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581D-12A8-F44A-B2C4-E0C423F3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04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C27B-FF53-05E6-A65B-4DD9211A1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EA5C1-35C1-15D7-3E47-D55063F02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7B0916-F980-C902-DCB2-8B7AE52C5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E08E4-0871-BC52-8264-A6234F9C2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B44A95-E03B-878C-3869-B64F7E5BB2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890FAC-7068-1324-508F-E10B41A94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F30B-87BB-A34C-9704-71B314E4E30C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BF8419-0292-2928-D1E7-EA01FEBF2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A30AAC-18DC-FA88-6178-12DE4D29F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581D-12A8-F44A-B2C4-E0C423F3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431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68EF6-49A8-A5CF-474D-7986C4077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BBDF3-5AFD-E8A7-64F3-F4ECB08EE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F30B-87BB-A34C-9704-71B314E4E30C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8FE66-F5FF-E887-85C6-F645E1B5A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88B3E-0349-2D0D-B23C-FF7A68A5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581D-12A8-F44A-B2C4-E0C423F3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003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8F5596-1C80-C7D6-2BB6-DE4A18F96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F30B-87BB-A34C-9704-71B314E4E30C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58E9FF-4C62-DDA4-6FA4-DAFDB9BB9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3547E-5735-25D8-9815-7798DCF66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581D-12A8-F44A-B2C4-E0C423F3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95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17233-CFBD-157B-0E84-AFFDC4537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99325-2CF9-AC81-D946-346676371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08EBC-99F7-286A-B388-F3820B628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5E21D-833B-3CB4-E2C4-7594F6E46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F30B-87BB-A34C-9704-71B314E4E30C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C62DD-39A5-C519-0307-D5FAB1A30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C518A-9D70-2193-2D5F-DC6560443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581D-12A8-F44A-B2C4-E0C423F3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481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51C30-6D42-3DF6-0FF6-852AD8B9B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E4FFB7-7AFC-C547-59DB-97DD668203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4EE741-3C24-04F1-5017-9EE9CDE3B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AD82C-1263-D23D-C040-F50CF6C96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F30B-87BB-A34C-9704-71B314E4E30C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DBED2-92ED-DF9C-49C9-FED403020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B713D-88A8-0623-E599-08BB45E3C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581D-12A8-F44A-B2C4-E0C423F3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968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68A60-F7BE-FDD2-DCF3-0E9B6900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BA1475-0C40-6915-7743-CCF145763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07F86-1091-DCD9-13B6-E5E907DD6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F30B-87BB-A34C-9704-71B314E4E30C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0D4A5-4FE5-A506-3F76-9AB3422F8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83880-22AC-EB3E-773E-C7DD86D13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581D-12A8-F44A-B2C4-E0C423F3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7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ADDBA1-D1DF-106D-13D2-6BA8447E23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BB54FD-6F26-A301-5DF0-863620D739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734B4-0C02-84DD-2715-5A5816DB0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F30B-87BB-A34C-9704-71B314E4E30C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41892-D1E3-1F60-6B6A-DCD67BF27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621D6-0FB1-5E5E-3A75-F19D56771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581D-12A8-F44A-B2C4-E0C423F3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72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280E02-EEB6-BC8C-E769-648E52B64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A6E37-B5EC-E0FC-1BC6-FDC3BD8E1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767AC-92A8-A3F4-5D28-8B1A99382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82F30B-87BB-A34C-9704-71B314E4E30C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63814-8F76-A528-511C-8623B3D821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1F323-B7E2-3FFC-718A-FDF0DFA3B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CC581D-12A8-F44A-B2C4-E0C423F3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44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76FF8-6191-702E-45C6-C3F0A0D11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0BD2E32-BCB3-C12F-F063-946EABD78D9F}"/>
              </a:ext>
            </a:extLst>
          </p:cNvPr>
          <p:cNvGrpSpPr/>
          <p:nvPr/>
        </p:nvGrpSpPr>
        <p:grpSpPr>
          <a:xfrm>
            <a:off x="2434910" y="0"/>
            <a:ext cx="5737658" cy="6825267"/>
            <a:chOff x="2434910" y="0"/>
            <a:chExt cx="5737658" cy="682526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C7319AC-AA0B-DD7E-927D-7E381D1BA09C}"/>
                </a:ext>
              </a:extLst>
            </p:cNvPr>
            <p:cNvSpPr txBox="1"/>
            <p:nvPr/>
          </p:nvSpPr>
          <p:spPr>
            <a:xfrm>
              <a:off x="2434910" y="2208"/>
              <a:ext cx="1475295" cy="4292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b="1" dirty="0"/>
                <a:t>Study 1:</a:t>
              </a:r>
            </a:p>
            <a:p>
              <a:r>
                <a:rPr lang="en-US" sz="700" dirty="0"/>
                <a:t>SIV-TLR7</a:t>
              </a:r>
            </a:p>
            <a:p>
              <a:r>
                <a:rPr lang="en-US" sz="700" dirty="0"/>
                <a:t>(Lim, Sci Trans Med, ‘18)</a:t>
              </a:r>
              <a:r>
                <a:rPr lang="en-US" sz="700" b="1" dirty="0"/>
                <a:t> 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B50FF59-B04A-2E38-805F-3EFED5841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3" t="3713" r="23"/>
            <a:stretch/>
          </p:blipFill>
          <p:spPr>
            <a:xfrm>
              <a:off x="3449034" y="0"/>
              <a:ext cx="4723534" cy="6825267"/>
            </a:xfrm>
            <a:prstGeom prst="rect">
              <a:avLst/>
            </a:prstGeom>
          </p:spPr>
        </p:pic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56754248-C952-AD48-4BB9-EE2079818E80}"/>
                </a:ext>
              </a:extLst>
            </p:cNvPr>
            <p:cNvSpPr/>
            <p:nvPr/>
          </p:nvSpPr>
          <p:spPr>
            <a:xfrm>
              <a:off x="3642853" y="5196950"/>
              <a:ext cx="2138338" cy="626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910AAA09-4EAE-9B3C-B86C-950C0EBE926C}"/>
                </a:ext>
              </a:extLst>
            </p:cNvPr>
            <p:cNvSpPr/>
            <p:nvPr/>
          </p:nvSpPr>
          <p:spPr>
            <a:xfrm>
              <a:off x="3738638" y="3421425"/>
              <a:ext cx="1661575" cy="5255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43C79A0-DC79-D98D-E37D-A27034101C8D}"/>
                </a:ext>
              </a:extLst>
            </p:cNvPr>
            <p:cNvSpPr/>
            <p:nvPr/>
          </p:nvSpPr>
          <p:spPr>
            <a:xfrm>
              <a:off x="3741691" y="1598074"/>
              <a:ext cx="1661575" cy="5255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6E51D04-92E8-3AAF-1E17-EC3B00068CD3}"/>
                </a:ext>
              </a:extLst>
            </p:cNvPr>
            <p:cNvSpPr/>
            <p:nvPr/>
          </p:nvSpPr>
          <p:spPr>
            <a:xfrm>
              <a:off x="3980607" y="47324"/>
              <a:ext cx="1565764" cy="250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CC79B93-6853-AF22-B061-693757D89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5177" r="79218" b="94114"/>
            <a:stretch/>
          </p:blipFill>
          <p:spPr>
            <a:xfrm>
              <a:off x="3531876" y="18958"/>
              <a:ext cx="322264" cy="28199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B24D527-94CE-40FF-2A8E-959D811AE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95" t="8450" r="87604" b="83539"/>
            <a:stretch/>
          </p:blipFill>
          <p:spPr>
            <a:xfrm>
              <a:off x="2490752" y="384329"/>
              <a:ext cx="848212" cy="501103"/>
            </a:xfrm>
            <a:prstGeom prst="rect">
              <a:avLst/>
            </a:prstGeom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2CC9A93-8E5F-436F-4413-D02C3134ED79}"/>
                </a:ext>
              </a:extLst>
            </p:cNvPr>
            <p:cNvGrpSpPr/>
            <p:nvPr/>
          </p:nvGrpSpPr>
          <p:grpSpPr>
            <a:xfrm>
              <a:off x="3738638" y="18520"/>
              <a:ext cx="1732297" cy="346491"/>
              <a:chOff x="3745566" y="-126494"/>
              <a:chExt cx="1732297" cy="346491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65E167D-DEE8-6D8D-76D0-4B4AA88389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21440" y="125950"/>
                <a:ext cx="1456423" cy="1"/>
              </a:xfrm>
              <a:prstGeom prst="line">
                <a:avLst/>
              </a:prstGeom>
              <a:ln w="12700">
                <a:solidFill>
                  <a:srgbClr val="CB27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F5D8A4E-6338-6F7E-A69E-A15927567B34}"/>
                  </a:ext>
                </a:extLst>
              </p:cNvPr>
              <p:cNvSpPr txBox="1"/>
              <p:nvPr/>
            </p:nvSpPr>
            <p:spPr>
              <a:xfrm>
                <a:off x="3745566" y="29210"/>
                <a:ext cx="395688" cy="1907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00" b="1" dirty="0">
                    <a:solidFill>
                      <a:srgbClr val="C00000"/>
                    </a:solidFill>
                  </a:rPr>
                  <a:t>ART</a:t>
                </a:r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8027240-CF0F-6766-D722-64C5B975AD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8310" y="58899"/>
                <a:ext cx="371742" cy="1"/>
              </a:xfrm>
              <a:prstGeom prst="line">
                <a:avLst/>
              </a:prstGeom>
              <a:ln w="12700">
                <a:solidFill>
                  <a:srgbClr val="027DBB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AC2010F-1998-99B0-6127-2AB88EC63E89}"/>
                  </a:ext>
                </a:extLst>
              </p:cNvPr>
              <p:cNvSpPr txBox="1"/>
              <p:nvPr/>
            </p:nvSpPr>
            <p:spPr>
              <a:xfrm>
                <a:off x="4243838" y="-126494"/>
                <a:ext cx="902246" cy="2861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00" b="1" dirty="0">
                    <a:solidFill>
                      <a:srgbClr val="027DBB"/>
                    </a:solidFill>
                  </a:rPr>
                  <a:t>TLR7-agonist </a:t>
                </a:r>
              </a:p>
              <a:p>
                <a:pPr algn="ctr"/>
                <a:r>
                  <a:rPr lang="en-US" sz="600" b="1" dirty="0">
                    <a:solidFill>
                      <a:srgbClr val="027DBB"/>
                    </a:solidFill>
                  </a:rPr>
                  <a:t>(GS-9620 or 986)</a:t>
                </a:r>
              </a:p>
            </p:txBody>
          </p:sp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F04CCC08-9E79-4EF5-BE34-9826B4D17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5177" r="79218" b="94114"/>
            <a:stretch/>
          </p:blipFill>
          <p:spPr>
            <a:xfrm>
              <a:off x="3531876" y="1739684"/>
              <a:ext cx="322264" cy="281997"/>
            </a:xfrm>
            <a:prstGeom prst="rect">
              <a:avLst/>
            </a:prstGeom>
          </p:spPr>
        </p:pic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BA4FE7E-B865-2BE5-3E9D-2CD352EDA83C}"/>
                </a:ext>
              </a:extLst>
            </p:cNvPr>
            <p:cNvCxnSpPr>
              <a:cxnSpLocks/>
            </p:cNvCxnSpPr>
            <p:nvPr/>
          </p:nvCxnSpPr>
          <p:spPr>
            <a:xfrm>
              <a:off x="3753984" y="2123585"/>
              <a:ext cx="1570003" cy="0"/>
            </a:xfrm>
            <a:prstGeom prst="line">
              <a:avLst/>
            </a:prstGeom>
            <a:ln w="12700">
              <a:solidFill>
                <a:srgbClr val="CB273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E309DB9-7FEB-AE76-140B-2E8F0B8A414F}"/>
                </a:ext>
              </a:extLst>
            </p:cNvPr>
            <p:cNvSpPr txBox="1"/>
            <p:nvPr/>
          </p:nvSpPr>
          <p:spPr>
            <a:xfrm>
              <a:off x="3478110" y="2026845"/>
              <a:ext cx="395688" cy="190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 dirty="0">
                  <a:solidFill>
                    <a:srgbClr val="C00000"/>
                  </a:solidFill>
                </a:rPr>
                <a:t>ART</a:t>
              </a: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69C38812-7D44-11DB-01E4-B5C72529902E}"/>
                </a:ext>
              </a:extLst>
            </p:cNvPr>
            <p:cNvGrpSpPr/>
            <p:nvPr/>
          </p:nvGrpSpPr>
          <p:grpSpPr>
            <a:xfrm>
              <a:off x="3873798" y="1647351"/>
              <a:ext cx="1413169" cy="184666"/>
              <a:chOff x="3880726" y="1703671"/>
              <a:chExt cx="1413169" cy="184666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19298F2-71AB-96F1-1918-5C8F804B55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42539" y="1804470"/>
                <a:ext cx="451356" cy="0"/>
              </a:xfrm>
              <a:prstGeom prst="line">
                <a:avLst/>
              </a:prstGeom>
              <a:ln w="12700">
                <a:solidFill>
                  <a:srgbClr val="027DBB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2F6BA48-4256-B8BF-D350-C72167528D93}"/>
                  </a:ext>
                </a:extLst>
              </p:cNvPr>
              <p:cNvSpPr txBox="1"/>
              <p:nvPr/>
            </p:nvSpPr>
            <p:spPr>
              <a:xfrm>
                <a:off x="3880726" y="1703671"/>
                <a:ext cx="108624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00" b="1" dirty="0">
                    <a:solidFill>
                      <a:srgbClr val="027DBB"/>
                    </a:solidFill>
                  </a:rPr>
                  <a:t>TLR7-agonist  (GS-986)</a:t>
                </a: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89A2F7AC-031A-A599-3B1B-31DE947B664D}"/>
                </a:ext>
              </a:extLst>
            </p:cNvPr>
            <p:cNvGrpSpPr/>
            <p:nvPr/>
          </p:nvGrpSpPr>
          <p:grpSpPr>
            <a:xfrm>
              <a:off x="4259135" y="1935610"/>
              <a:ext cx="796925" cy="151462"/>
              <a:chOff x="4266063" y="1891500"/>
              <a:chExt cx="796925" cy="151462"/>
            </a:xfrm>
          </p:grpSpPr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A3540B68-2166-491B-82D0-068D13BD2C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6063" y="1891500"/>
                <a:ext cx="0" cy="151462"/>
              </a:xfrm>
              <a:prstGeom prst="straightConnector1">
                <a:avLst/>
              </a:prstGeom>
              <a:ln w="9525">
                <a:solidFill>
                  <a:srgbClr val="FCBB12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BA3B41E9-3DB0-C571-907A-9FAAC40211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32763" y="1891500"/>
                <a:ext cx="0" cy="151462"/>
              </a:xfrm>
              <a:prstGeom prst="straightConnector1">
                <a:avLst/>
              </a:prstGeom>
              <a:ln w="9525">
                <a:solidFill>
                  <a:srgbClr val="FCBB12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95F458E3-BFD6-7E84-CE4B-6649DEC1AA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2638" y="1891500"/>
                <a:ext cx="0" cy="151462"/>
              </a:xfrm>
              <a:prstGeom prst="straightConnector1">
                <a:avLst/>
              </a:prstGeom>
              <a:ln w="9525">
                <a:solidFill>
                  <a:srgbClr val="FCBB12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F9D9B490-2102-6C1B-3EEA-11BDDF64E6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2988" y="1891500"/>
                <a:ext cx="0" cy="151462"/>
              </a:xfrm>
              <a:prstGeom prst="straightConnector1">
                <a:avLst/>
              </a:prstGeom>
              <a:ln w="9525">
                <a:solidFill>
                  <a:srgbClr val="FCBB12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A7B4213-B052-F385-AFCD-BF812B739A14}"/>
                </a:ext>
              </a:extLst>
            </p:cNvPr>
            <p:cNvSpPr txBox="1"/>
            <p:nvPr/>
          </p:nvSpPr>
          <p:spPr>
            <a:xfrm>
              <a:off x="3849256" y="1773112"/>
              <a:ext cx="10862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 dirty="0">
                  <a:solidFill>
                    <a:srgbClr val="FCBB12"/>
                  </a:solidFill>
                </a:rPr>
                <a:t>Vaccine prime</a:t>
              </a:r>
            </a:p>
            <a:p>
              <a:pPr algn="ctr"/>
              <a:r>
                <a:rPr lang="en-US" sz="600" b="1" dirty="0">
                  <a:solidFill>
                    <a:srgbClr val="FCBB12"/>
                  </a:solidFill>
                </a:rPr>
                <a:t>(Ad26)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2DC31D2-33D5-9320-820C-9AC65E303D87}"/>
                </a:ext>
              </a:extLst>
            </p:cNvPr>
            <p:cNvSpPr txBox="1"/>
            <p:nvPr/>
          </p:nvSpPr>
          <p:spPr>
            <a:xfrm>
              <a:off x="4384691" y="1773112"/>
              <a:ext cx="10862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 dirty="0">
                  <a:solidFill>
                    <a:srgbClr val="FCBB12"/>
                  </a:solidFill>
                </a:rPr>
                <a:t>Vaccine boost</a:t>
              </a:r>
            </a:p>
            <a:p>
              <a:pPr algn="ctr"/>
              <a:r>
                <a:rPr lang="en-US" sz="600" b="1" dirty="0">
                  <a:solidFill>
                    <a:srgbClr val="FCBB12"/>
                  </a:solidFill>
                </a:rPr>
                <a:t>(MVA)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01E216B-4A8F-5173-3A30-E9CD86EA1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06" t="35827" r="88033" b="56919"/>
            <a:stretch/>
          </p:blipFill>
          <p:spPr>
            <a:xfrm>
              <a:off x="2564176" y="2093403"/>
              <a:ext cx="701365" cy="417267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9A20D94-D90B-AC55-E8AB-5597ED13FA15}"/>
                </a:ext>
              </a:extLst>
            </p:cNvPr>
            <p:cNvSpPr txBox="1"/>
            <p:nvPr/>
          </p:nvSpPr>
          <p:spPr>
            <a:xfrm>
              <a:off x="2434910" y="1215376"/>
              <a:ext cx="1475295" cy="4292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b="1" dirty="0"/>
                <a:t>Study 2:</a:t>
              </a:r>
            </a:p>
            <a:p>
              <a:r>
                <a:rPr lang="en-US" sz="700" dirty="0"/>
                <a:t>SIV-TLR7-VAC</a:t>
              </a:r>
            </a:p>
            <a:p>
              <a:r>
                <a:rPr lang="en-US" sz="700" dirty="0"/>
                <a:t>(</a:t>
              </a:r>
              <a:r>
                <a:rPr lang="en-US" sz="700" dirty="0" err="1"/>
                <a:t>Borducchi</a:t>
              </a:r>
              <a:r>
                <a:rPr lang="en-US" sz="700" dirty="0"/>
                <a:t>, Nature, ‘16)</a:t>
              </a:r>
              <a:r>
                <a:rPr lang="en-US" sz="700" b="1" dirty="0"/>
                <a:t> </a:t>
              </a:r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0535B852-4D51-177B-CD36-54C7E7C20A45}"/>
                </a:ext>
              </a:extLst>
            </p:cNvPr>
            <p:cNvGrpSpPr/>
            <p:nvPr/>
          </p:nvGrpSpPr>
          <p:grpSpPr>
            <a:xfrm>
              <a:off x="3475515" y="3622628"/>
              <a:ext cx="1808857" cy="446256"/>
              <a:chOff x="3482443" y="3610234"/>
              <a:chExt cx="1808857" cy="446256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9BE112AB-09CA-DE1A-E6AB-5AAFC2BC5B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58317" y="3961096"/>
                <a:ext cx="1532983" cy="0"/>
              </a:xfrm>
              <a:prstGeom prst="line">
                <a:avLst/>
              </a:prstGeom>
              <a:ln w="12700">
                <a:solidFill>
                  <a:srgbClr val="CB27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5888379-880F-D986-A1A3-4470B4FD43B9}"/>
                  </a:ext>
                </a:extLst>
              </p:cNvPr>
              <p:cNvSpPr txBox="1"/>
              <p:nvPr/>
            </p:nvSpPr>
            <p:spPr>
              <a:xfrm>
                <a:off x="3482443" y="3865703"/>
                <a:ext cx="395688" cy="1907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00" b="1" dirty="0">
                    <a:solidFill>
                      <a:srgbClr val="C00000"/>
                    </a:solidFill>
                  </a:rPr>
                  <a:t>ART</a:t>
                </a:r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BC2E299B-96F7-D30B-CC3C-A02F67DF8751}"/>
                  </a:ext>
                </a:extLst>
              </p:cNvPr>
              <p:cNvGrpSpPr/>
              <p:nvPr/>
            </p:nvGrpSpPr>
            <p:grpSpPr>
              <a:xfrm>
                <a:off x="3613449" y="3610234"/>
                <a:ext cx="1384861" cy="276999"/>
                <a:chOff x="3827809" y="1772557"/>
                <a:chExt cx="1384861" cy="276999"/>
              </a:xfrm>
            </p:grpSpPr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98B276B5-5E84-0A0E-417D-14D58723B3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42539" y="1911056"/>
                  <a:ext cx="370131" cy="0"/>
                </a:xfrm>
                <a:prstGeom prst="line">
                  <a:avLst/>
                </a:prstGeom>
                <a:ln w="12700">
                  <a:solidFill>
                    <a:srgbClr val="027DBB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4F3B4FF4-1A74-99B8-A20C-3F862603214E}"/>
                    </a:ext>
                  </a:extLst>
                </p:cNvPr>
                <p:cNvSpPr txBox="1"/>
                <p:nvPr/>
              </p:nvSpPr>
              <p:spPr>
                <a:xfrm>
                  <a:off x="3827809" y="1772557"/>
                  <a:ext cx="108624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600" b="1" dirty="0">
                      <a:solidFill>
                        <a:srgbClr val="027DBB"/>
                      </a:solidFill>
                    </a:rPr>
                    <a:t>TLR7-agonist  </a:t>
                  </a:r>
                </a:p>
                <a:p>
                  <a:pPr algn="r"/>
                  <a:r>
                    <a:rPr lang="en-US" sz="600" b="1" dirty="0">
                      <a:solidFill>
                        <a:srgbClr val="027DBB"/>
                      </a:solidFill>
                    </a:rPr>
                    <a:t>(GS-9620)</a:t>
                  </a:r>
                </a:p>
              </p:txBody>
            </p:sp>
          </p:grp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412A040-919C-ACF6-0AAB-7211A536F41E}"/>
                  </a:ext>
                </a:extLst>
              </p:cNvPr>
              <p:cNvSpPr txBox="1"/>
              <p:nvPr/>
            </p:nvSpPr>
            <p:spPr>
              <a:xfrm>
                <a:off x="3812102" y="3802193"/>
                <a:ext cx="108624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600" b="1" dirty="0">
                    <a:solidFill>
                      <a:srgbClr val="FA61C2"/>
                    </a:solidFill>
                  </a:rPr>
                  <a:t>Antibody (PGT121)</a:t>
                </a:r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35B494DE-298D-285E-E862-ABC76B9D3A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19374" y="3894526"/>
                <a:ext cx="155448" cy="0"/>
              </a:xfrm>
              <a:prstGeom prst="line">
                <a:avLst/>
              </a:prstGeom>
              <a:ln w="12700">
                <a:solidFill>
                  <a:srgbClr val="FA61C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E1DBF8A8-265E-EADF-E56F-7F66CBD17C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5177" r="79218" b="94114"/>
            <a:stretch/>
          </p:blipFill>
          <p:spPr>
            <a:xfrm>
              <a:off x="3531876" y="3610542"/>
              <a:ext cx="322264" cy="281997"/>
            </a:xfrm>
            <a:prstGeom prst="rect">
              <a:avLst/>
            </a:prstGeom>
          </p:spPr>
        </p:pic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53283FD1-3D31-E2AE-8330-0D44B9E7CA56}"/>
                </a:ext>
              </a:extLst>
            </p:cNvPr>
            <p:cNvSpPr txBox="1"/>
            <p:nvPr/>
          </p:nvSpPr>
          <p:spPr>
            <a:xfrm>
              <a:off x="2434910" y="3103311"/>
              <a:ext cx="1475295" cy="4292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b="1" dirty="0"/>
                <a:t>Study 3:</a:t>
              </a:r>
            </a:p>
            <a:p>
              <a:r>
                <a:rPr lang="en-US" sz="700" dirty="0"/>
                <a:t>SHIV-TLR7-AB</a:t>
              </a:r>
            </a:p>
            <a:p>
              <a:r>
                <a:rPr lang="en-US" sz="700" dirty="0"/>
                <a:t>(</a:t>
              </a:r>
              <a:r>
                <a:rPr lang="en-US" sz="700" dirty="0" err="1"/>
                <a:t>Borducchi</a:t>
              </a:r>
              <a:r>
                <a:rPr lang="en-US" sz="700" dirty="0"/>
                <a:t>, Nature, ‘18)</a:t>
              </a:r>
              <a:r>
                <a:rPr lang="en-US" sz="700" b="1" dirty="0"/>
                <a:t> </a:t>
              </a: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D4A7083E-D6A8-4D23-F6F9-6EEB608BC9AD}"/>
                </a:ext>
              </a:extLst>
            </p:cNvPr>
            <p:cNvGrpSpPr/>
            <p:nvPr/>
          </p:nvGrpSpPr>
          <p:grpSpPr>
            <a:xfrm>
              <a:off x="2657291" y="3934771"/>
              <a:ext cx="515135" cy="549674"/>
              <a:chOff x="2789931" y="3961071"/>
              <a:chExt cx="515135" cy="549674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B702B194-E782-EABD-5818-0BB2AF0250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4749" t="73280" r="90552" b="20722"/>
              <a:stretch/>
            </p:blipFill>
            <p:spPr>
              <a:xfrm>
                <a:off x="2842049" y="3961071"/>
                <a:ext cx="387752" cy="412463"/>
              </a:xfrm>
              <a:prstGeom prst="rect">
                <a:avLst/>
              </a:prstGeom>
            </p:spPr>
          </p:pic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1764D982-0B12-EF1C-0658-3B14C1C3D206}"/>
                  </a:ext>
                </a:extLst>
              </p:cNvPr>
              <p:cNvSpPr txBox="1"/>
              <p:nvPr/>
            </p:nvSpPr>
            <p:spPr>
              <a:xfrm>
                <a:off x="2789931" y="4310690"/>
                <a:ext cx="515135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00" dirty="0"/>
                  <a:t>PGT121</a:t>
                </a:r>
              </a:p>
            </p:txBody>
          </p:sp>
        </p:grp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89E4411-3A24-3BB6-6BE5-759B8A023E2F}"/>
                </a:ext>
              </a:extLst>
            </p:cNvPr>
            <p:cNvCxnSpPr>
              <a:cxnSpLocks/>
            </p:cNvCxnSpPr>
            <p:nvPr/>
          </p:nvCxnSpPr>
          <p:spPr>
            <a:xfrm>
              <a:off x="3758853" y="5810451"/>
              <a:ext cx="1641360" cy="0"/>
            </a:xfrm>
            <a:prstGeom prst="line">
              <a:avLst/>
            </a:prstGeom>
            <a:ln w="12700">
              <a:solidFill>
                <a:srgbClr val="CB273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2277F7BA-C244-EC79-F682-5DD9DDBF0EEC}"/>
                </a:ext>
              </a:extLst>
            </p:cNvPr>
            <p:cNvSpPr txBox="1"/>
            <p:nvPr/>
          </p:nvSpPr>
          <p:spPr>
            <a:xfrm>
              <a:off x="3482979" y="5715058"/>
              <a:ext cx="395688" cy="190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 dirty="0">
                  <a:solidFill>
                    <a:srgbClr val="C00000"/>
                  </a:solidFill>
                </a:rPr>
                <a:t>ART</a:t>
              </a:r>
            </a:p>
          </p:txBody>
        </p: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740CFB3D-11E4-FFAC-87D4-95ABC82B02DC}"/>
                </a:ext>
              </a:extLst>
            </p:cNvPr>
            <p:cNvGrpSpPr/>
            <p:nvPr/>
          </p:nvGrpSpPr>
          <p:grpSpPr>
            <a:xfrm>
              <a:off x="3482979" y="5247130"/>
              <a:ext cx="1645083" cy="184666"/>
              <a:chOff x="3629965" y="1803129"/>
              <a:chExt cx="1645083" cy="184666"/>
            </a:xfrm>
          </p:grpSpPr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64EF8EB2-CE9B-87B6-7853-1D7A98F66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51125" y="1895462"/>
                <a:ext cx="423923" cy="0"/>
              </a:xfrm>
              <a:prstGeom prst="line">
                <a:avLst/>
              </a:prstGeom>
              <a:ln w="12700">
                <a:solidFill>
                  <a:srgbClr val="027DBB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7FB6C2E1-9A17-B90E-4E82-9E8F60FAEBD5}"/>
                  </a:ext>
                </a:extLst>
              </p:cNvPr>
              <p:cNvSpPr txBox="1"/>
              <p:nvPr/>
            </p:nvSpPr>
            <p:spPr>
              <a:xfrm>
                <a:off x="3629965" y="1803129"/>
                <a:ext cx="1284088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600" b="1" dirty="0">
                    <a:solidFill>
                      <a:srgbClr val="027DBB"/>
                    </a:solidFill>
                  </a:rPr>
                  <a:t>TLR7-agonist  (GS-9620)</a:t>
                </a:r>
              </a:p>
            </p:txBody>
          </p: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93293333-5EF0-4426-A1B0-B4469DCDFC85}"/>
                </a:ext>
              </a:extLst>
            </p:cNvPr>
            <p:cNvGrpSpPr/>
            <p:nvPr/>
          </p:nvGrpSpPr>
          <p:grpSpPr>
            <a:xfrm>
              <a:off x="3948170" y="5630120"/>
              <a:ext cx="1171306" cy="184666"/>
              <a:chOff x="3955098" y="5639158"/>
              <a:chExt cx="1171306" cy="184666"/>
            </a:xfrm>
          </p:grpSpPr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5336CA0E-EE61-11C4-B818-C5E00A70CBB9}"/>
                  </a:ext>
                </a:extLst>
              </p:cNvPr>
              <p:cNvSpPr txBox="1"/>
              <p:nvPr/>
            </p:nvSpPr>
            <p:spPr>
              <a:xfrm>
                <a:off x="3955098" y="5639158"/>
                <a:ext cx="108624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600" b="1" dirty="0">
                    <a:solidFill>
                      <a:srgbClr val="FA61C2"/>
                    </a:solidFill>
                  </a:rPr>
                  <a:t>Antibody (PGT121)</a:t>
                </a:r>
              </a:p>
            </p:txBody>
          </p: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3FD9B643-8FCA-D8A4-4332-A55D4A111D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0956" y="5731491"/>
                <a:ext cx="155448" cy="0"/>
              </a:xfrm>
              <a:prstGeom prst="line">
                <a:avLst/>
              </a:prstGeom>
              <a:ln w="12700">
                <a:solidFill>
                  <a:srgbClr val="FA61C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42B6B277-BC2B-9E88-33CE-6565C108EE92}"/>
                </a:ext>
              </a:extLst>
            </p:cNvPr>
            <p:cNvGrpSpPr/>
            <p:nvPr/>
          </p:nvGrpSpPr>
          <p:grpSpPr>
            <a:xfrm>
              <a:off x="3960843" y="5371073"/>
              <a:ext cx="1199572" cy="275874"/>
              <a:chOff x="3967771" y="5317092"/>
              <a:chExt cx="1199572" cy="275874"/>
            </a:xfrm>
          </p:grpSpPr>
          <p:cxnSp>
            <p:nvCxnSpPr>
              <p:cNvPr id="127" name="Straight Arrow Connector 126">
                <a:extLst>
                  <a:ext uri="{FF2B5EF4-FFF2-40B4-BE49-F238E27FC236}">
                    <a16:creationId xmlns:a16="http://schemas.microsoft.com/office/drawing/2014/main" id="{F8703427-651B-7C82-D9ED-F7F83346AA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06084" y="5441504"/>
                <a:ext cx="0" cy="151462"/>
              </a:xfrm>
              <a:prstGeom prst="straightConnector1">
                <a:avLst/>
              </a:prstGeom>
              <a:ln w="9525">
                <a:solidFill>
                  <a:srgbClr val="FCBB12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Arrow Connector 127">
                <a:extLst>
                  <a:ext uri="{FF2B5EF4-FFF2-40B4-BE49-F238E27FC236}">
                    <a16:creationId xmlns:a16="http://schemas.microsoft.com/office/drawing/2014/main" id="{D879A734-1FC3-284B-CECC-4E4B54D323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8671" y="5441504"/>
                <a:ext cx="0" cy="151462"/>
              </a:xfrm>
              <a:prstGeom prst="straightConnector1">
                <a:avLst/>
              </a:prstGeom>
              <a:ln w="9525">
                <a:solidFill>
                  <a:srgbClr val="FCBB12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Arrow Connector 128">
                <a:extLst>
                  <a:ext uri="{FF2B5EF4-FFF2-40B4-BE49-F238E27FC236}">
                    <a16:creationId xmlns:a16="http://schemas.microsoft.com/office/drawing/2014/main" id="{4EFA9380-51AD-8AE9-979F-EDDA5A5460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65616" y="5441504"/>
                <a:ext cx="0" cy="151462"/>
              </a:xfrm>
              <a:prstGeom prst="straightConnector1">
                <a:avLst/>
              </a:prstGeom>
              <a:ln w="9525">
                <a:solidFill>
                  <a:srgbClr val="FCBB12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D0866FB5-DA88-EDC2-6F88-A371FBDD4E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0208" y="5441504"/>
                <a:ext cx="0" cy="151462"/>
              </a:xfrm>
              <a:prstGeom prst="straightConnector1">
                <a:avLst/>
              </a:prstGeom>
              <a:ln w="9525">
                <a:solidFill>
                  <a:srgbClr val="FCBB12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E3896D01-8D81-0C9D-C330-63CEC175993D}"/>
                  </a:ext>
                </a:extLst>
              </p:cNvPr>
              <p:cNvSpPr txBox="1"/>
              <p:nvPr/>
            </p:nvSpPr>
            <p:spPr>
              <a:xfrm>
                <a:off x="3967771" y="5317092"/>
                <a:ext cx="7151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500" b="1" dirty="0">
                    <a:solidFill>
                      <a:srgbClr val="FCBB12"/>
                    </a:solidFill>
                  </a:rPr>
                  <a:t>Vaccine prime</a:t>
                </a:r>
              </a:p>
              <a:p>
                <a:pPr algn="ctr"/>
                <a:r>
                  <a:rPr lang="en-US" sz="500" b="1" dirty="0">
                    <a:solidFill>
                      <a:srgbClr val="FCBB12"/>
                    </a:solidFill>
                  </a:rPr>
                  <a:t>(Ad26)</a:t>
                </a: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C61B9A88-18A8-D9C7-6645-49D767D27B9B}"/>
                  </a:ext>
                </a:extLst>
              </p:cNvPr>
              <p:cNvSpPr txBox="1"/>
              <p:nvPr/>
            </p:nvSpPr>
            <p:spPr>
              <a:xfrm>
                <a:off x="4411021" y="5320548"/>
                <a:ext cx="75632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500" b="1" dirty="0">
                    <a:solidFill>
                      <a:srgbClr val="FCBB12"/>
                    </a:solidFill>
                  </a:rPr>
                  <a:t>Vaccine  boost</a:t>
                </a:r>
              </a:p>
              <a:p>
                <a:pPr algn="ctr"/>
                <a:r>
                  <a:rPr lang="en-US" sz="500" b="1" dirty="0">
                    <a:solidFill>
                      <a:srgbClr val="FCBB12"/>
                    </a:solidFill>
                  </a:rPr>
                  <a:t>(MVA)</a:t>
                </a:r>
              </a:p>
            </p:txBody>
          </p:sp>
        </p:grpSp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EBF2FDC0-DCF6-2FCE-4ED7-5461E7441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5177" r="79218" b="94114"/>
            <a:stretch/>
          </p:blipFill>
          <p:spPr>
            <a:xfrm>
              <a:off x="3531876" y="5458331"/>
              <a:ext cx="322264" cy="281997"/>
            </a:xfrm>
            <a:prstGeom prst="rect">
              <a:avLst/>
            </a:prstGeom>
          </p:spPr>
        </p:pic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263F7658-DA06-BD9C-EB2C-5FAE1127F21E}"/>
                </a:ext>
              </a:extLst>
            </p:cNvPr>
            <p:cNvSpPr txBox="1"/>
            <p:nvPr/>
          </p:nvSpPr>
          <p:spPr>
            <a:xfrm>
              <a:off x="2438147" y="4938400"/>
              <a:ext cx="1475295" cy="4292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b="1" dirty="0"/>
                <a:t>Study 4:</a:t>
              </a:r>
            </a:p>
            <a:p>
              <a:r>
                <a:rPr lang="en-US" sz="700" dirty="0"/>
                <a:t>SHIV-TLR7-VAC-AB</a:t>
              </a:r>
            </a:p>
            <a:p>
              <a:r>
                <a:rPr lang="en-US" sz="700" dirty="0"/>
                <a:t>(Walker-Sperling, Nat Com, ‘22)</a:t>
              </a:r>
              <a:r>
                <a:rPr lang="en-US" sz="700" b="1" dirty="0"/>
                <a:t> </a:t>
              </a:r>
            </a:p>
          </p:txBody>
        </p: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5767359F-E77B-691E-F61C-F4BD2CFB7E0D}"/>
                </a:ext>
              </a:extLst>
            </p:cNvPr>
            <p:cNvGrpSpPr/>
            <p:nvPr/>
          </p:nvGrpSpPr>
          <p:grpSpPr>
            <a:xfrm>
              <a:off x="2657291" y="6197133"/>
              <a:ext cx="515135" cy="549674"/>
              <a:chOff x="2789931" y="3961071"/>
              <a:chExt cx="515135" cy="549674"/>
            </a:xfrm>
          </p:grpSpPr>
          <p:pic>
            <p:nvPicPr>
              <p:cNvPr id="141" name="Picture 140">
                <a:extLst>
                  <a:ext uri="{FF2B5EF4-FFF2-40B4-BE49-F238E27FC236}">
                    <a16:creationId xmlns:a16="http://schemas.microsoft.com/office/drawing/2014/main" id="{E01882EC-5A89-A0BE-0458-042355764F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4749" t="73280" r="90552" b="20722"/>
              <a:stretch/>
            </p:blipFill>
            <p:spPr>
              <a:xfrm>
                <a:off x="2842049" y="3961071"/>
                <a:ext cx="387752" cy="412463"/>
              </a:xfrm>
              <a:prstGeom prst="rect">
                <a:avLst/>
              </a:prstGeom>
            </p:spPr>
          </p:pic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86F914EB-046F-D51C-FA49-A641FAA366EB}"/>
                  </a:ext>
                </a:extLst>
              </p:cNvPr>
              <p:cNvSpPr txBox="1"/>
              <p:nvPr/>
            </p:nvSpPr>
            <p:spPr>
              <a:xfrm>
                <a:off x="2789931" y="4310690"/>
                <a:ext cx="515135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00" dirty="0"/>
                  <a:t>PGT121</a:t>
                </a:r>
              </a:p>
            </p:txBody>
          </p:sp>
        </p:grpSp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52E9EC5D-E4A8-C5EB-FAA7-ADA9B4DB3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06" t="35827" r="88033" b="56919"/>
            <a:stretch/>
          </p:blipFill>
          <p:spPr>
            <a:xfrm>
              <a:off x="2564176" y="5825915"/>
              <a:ext cx="701365" cy="417267"/>
            </a:xfrm>
            <a:prstGeom prst="rect">
              <a:avLst/>
            </a:prstGeom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51AEB5E3-52E6-786A-64CB-DEB25E1A4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95" t="8450" r="87604" b="83539"/>
            <a:stretch/>
          </p:blipFill>
          <p:spPr>
            <a:xfrm>
              <a:off x="2490752" y="1603937"/>
              <a:ext cx="848212" cy="501103"/>
            </a:xfrm>
            <a:prstGeom prst="rect">
              <a:avLst/>
            </a:prstGeom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51B92861-66C4-2545-5C53-6786EAEC48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95" t="8450" r="87604" b="83539"/>
            <a:stretch/>
          </p:blipFill>
          <p:spPr>
            <a:xfrm>
              <a:off x="2490752" y="3542440"/>
              <a:ext cx="848212" cy="501103"/>
            </a:xfrm>
            <a:prstGeom prst="rect">
              <a:avLst/>
            </a:prstGeom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7265B443-4006-2752-BCAB-D88F660EEE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95" t="8450" r="87604" b="83539"/>
            <a:stretch/>
          </p:blipFill>
          <p:spPr>
            <a:xfrm>
              <a:off x="2490752" y="5349129"/>
              <a:ext cx="848212" cy="5011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9690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F257B-9CB3-128D-76B4-4B0DB4A07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E5BAF16-54D8-FBD1-D2B0-B0B191164BE7}"/>
              </a:ext>
            </a:extLst>
          </p:cNvPr>
          <p:cNvGrpSpPr/>
          <p:nvPr/>
        </p:nvGrpSpPr>
        <p:grpSpPr>
          <a:xfrm>
            <a:off x="2441838" y="-12394"/>
            <a:ext cx="5737658" cy="6825267"/>
            <a:chOff x="2441838" y="-12394"/>
            <a:chExt cx="5737658" cy="682526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C5EF0DB-A3A5-A7AD-9168-9CAFD23B4D20}"/>
                </a:ext>
              </a:extLst>
            </p:cNvPr>
            <p:cNvSpPr txBox="1"/>
            <p:nvPr/>
          </p:nvSpPr>
          <p:spPr>
            <a:xfrm>
              <a:off x="2441838" y="-10186"/>
              <a:ext cx="1475295" cy="4292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b="1" dirty="0"/>
                <a:t>Study 1:</a:t>
              </a:r>
            </a:p>
            <a:p>
              <a:r>
                <a:rPr lang="en-US" sz="700" dirty="0"/>
                <a:t>SIV-TLR7</a:t>
              </a:r>
            </a:p>
            <a:p>
              <a:r>
                <a:rPr lang="en-US" sz="700" dirty="0"/>
                <a:t>(Lim, Sci Trans Med, ‘18)</a:t>
              </a:r>
              <a:r>
                <a:rPr lang="en-US" sz="700" b="1" dirty="0"/>
                <a:t> 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06ED51E-1E95-5AC9-3A0D-746A2D20A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670"/>
            <a:stretch/>
          </p:blipFill>
          <p:spPr>
            <a:xfrm>
              <a:off x="3455962" y="-12394"/>
              <a:ext cx="4723534" cy="6825267"/>
            </a:xfrm>
            <a:prstGeom prst="rect">
              <a:avLst/>
            </a:prstGeom>
          </p:spPr>
        </p:pic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2591F87A-A249-5738-451E-9E467EF53875}"/>
                </a:ext>
              </a:extLst>
            </p:cNvPr>
            <p:cNvSpPr/>
            <p:nvPr/>
          </p:nvSpPr>
          <p:spPr>
            <a:xfrm>
              <a:off x="3649781" y="5184556"/>
              <a:ext cx="2138338" cy="626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1FA70C6-F77F-0CAF-3B76-918C3E6B30AB}"/>
                </a:ext>
              </a:extLst>
            </p:cNvPr>
            <p:cNvSpPr/>
            <p:nvPr/>
          </p:nvSpPr>
          <p:spPr>
            <a:xfrm>
              <a:off x="3745566" y="3409031"/>
              <a:ext cx="1661575" cy="5255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CE1A2B7-A04E-6703-9382-CC5F033991FD}"/>
                </a:ext>
              </a:extLst>
            </p:cNvPr>
            <p:cNvSpPr/>
            <p:nvPr/>
          </p:nvSpPr>
          <p:spPr>
            <a:xfrm>
              <a:off x="3748619" y="1585680"/>
              <a:ext cx="1661575" cy="5255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35AAC3B-210E-554A-E805-88918C13B24B}"/>
                </a:ext>
              </a:extLst>
            </p:cNvPr>
            <p:cNvSpPr/>
            <p:nvPr/>
          </p:nvSpPr>
          <p:spPr>
            <a:xfrm>
              <a:off x="3987535" y="34930"/>
              <a:ext cx="1565764" cy="2503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1741235-E2FE-CDC9-B1C5-097FAB449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5177" r="79218" b="94114"/>
            <a:stretch/>
          </p:blipFill>
          <p:spPr>
            <a:xfrm>
              <a:off x="3538804" y="6564"/>
              <a:ext cx="322264" cy="28199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883845F-AD2A-462B-2560-AB531CFE7E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95" t="8450" r="87604" b="83539"/>
            <a:stretch/>
          </p:blipFill>
          <p:spPr>
            <a:xfrm>
              <a:off x="2497680" y="371935"/>
              <a:ext cx="848212" cy="501103"/>
            </a:xfrm>
            <a:prstGeom prst="rect">
              <a:avLst/>
            </a:prstGeom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0B2E33C-A0A0-A9E2-22F5-6DCF5A9DC204}"/>
                </a:ext>
              </a:extLst>
            </p:cNvPr>
            <p:cNvGrpSpPr/>
            <p:nvPr/>
          </p:nvGrpSpPr>
          <p:grpSpPr>
            <a:xfrm>
              <a:off x="3745566" y="6126"/>
              <a:ext cx="1732297" cy="346491"/>
              <a:chOff x="3745566" y="-126494"/>
              <a:chExt cx="1732297" cy="346491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41BE709-B4C5-7B8F-E099-05E1567D74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21440" y="125950"/>
                <a:ext cx="1456423" cy="1"/>
              </a:xfrm>
              <a:prstGeom prst="line">
                <a:avLst/>
              </a:prstGeom>
              <a:ln w="12700">
                <a:solidFill>
                  <a:srgbClr val="CB27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8896C20-79E2-8959-3CDF-C2BA18FBBFA2}"/>
                  </a:ext>
                </a:extLst>
              </p:cNvPr>
              <p:cNvSpPr txBox="1"/>
              <p:nvPr/>
            </p:nvSpPr>
            <p:spPr>
              <a:xfrm>
                <a:off x="3745566" y="29210"/>
                <a:ext cx="395688" cy="1907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00" b="1" dirty="0">
                    <a:solidFill>
                      <a:srgbClr val="C00000"/>
                    </a:solidFill>
                  </a:rPr>
                  <a:t>ART</a:t>
                </a:r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13FE4C66-AE3E-D283-A3A5-47C059C3B0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8310" y="58899"/>
                <a:ext cx="371742" cy="1"/>
              </a:xfrm>
              <a:prstGeom prst="line">
                <a:avLst/>
              </a:prstGeom>
              <a:ln w="12700">
                <a:solidFill>
                  <a:srgbClr val="027DBB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053790F-4189-6E0F-BEE6-C6981843EEC8}"/>
                  </a:ext>
                </a:extLst>
              </p:cNvPr>
              <p:cNvSpPr txBox="1"/>
              <p:nvPr/>
            </p:nvSpPr>
            <p:spPr>
              <a:xfrm>
                <a:off x="4243838" y="-126494"/>
                <a:ext cx="902246" cy="2861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00" b="1" dirty="0">
                    <a:solidFill>
                      <a:srgbClr val="027DBB"/>
                    </a:solidFill>
                  </a:rPr>
                  <a:t>TLR7-agonist </a:t>
                </a:r>
              </a:p>
              <a:p>
                <a:pPr algn="ctr"/>
                <a:r>
                  <a:rPr lang="en-US" sz="600" b="1" dirty="0">
                    <a:solidFill>
                      <a:srgbClr val="027DBB"/>
                    </a:solidFill>
                  </a:rPr>
                  <a:t>(GS-9620 or 986)</a:t>
                </a:r>
              </a:p>
            </p:txBody>
          </p:sp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14B8D7B3-C0B2-38FA-0831-23327B7A94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5177" r="79218" b="94114"/>
            <a:stretch/>
          </p:blipFill>
          <p:spPr>
            <a:xfrm>
              <a:off x="3538804" y="1727290"/>
              <a:ext cx="322264" cy="281997"/>
            </a:xfrm>
            <a:prstGeom prst="rect">
              <a:avLst/>
            </a:prstGeom>
          </p:spPr>
        </p:pic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A60E4EA-8ACB-CF50-DF38-E4D8E9D372ED}"/>
                </a:ext>
              </a:extLst>
            </p:cNvPr>
            <p:cNvCxnSpPr>
              <a:cxnSpLocks/>
            </p:cNvCxnSpPr>
            <p:nvPr/>
          </p:nvCxnSpPr>
          <p:spPr>
            <a:xfrm>
              <a:off x="3760912" y="2111191"/>
              <a:ext cx="1570003" cy="0"/>
            </a:xfrm>
            <a:prstGeom prst="line">
              <a:avLst/>
            </a:prstGeom>
            <a:ln w="12700">
              <a:solidFill>
                <a:srgbClr val="CB273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0C829DD-25E0-8E13-A70A-99FB45A2E2AD}"/>
                </a:ext>
              </a:extLst>
            </p:cNvPr>
            <p:cNvSpPr txBox="1"/>
            <p:nvPr/>
          </p:nvSpPr>
          <p:spPr>
            <a:xfrm>
              <a:off x="3485038" y="2014451"/>
              <a:ext cx="395688" cy="190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 dirty="0">
                  <a:solidFill>
                    <a:srgbClr val="C00000"/>
                  </a:solidFill>
                </a:rPr>
                <a:t>ART</a:t>
              </a: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0C3C833E-4367-B9E2-AB83-6F876FD9632D}"/>
                </a:ext>
              </a:extLst>
            </p:cNvPr>
            <p:cNvGrpSpPr/>
            <p:nvPr/>
          </p:nvGrpSpPr>
          <p:grpSpPr>
            <a:xfrm>
              <a:off x="3880726" y="1634957"/>
              <a:ext cx="1413169" cy="184666"/>
              <a:chOff x="3880726" y="1703671"/>
              <a:chExt cx="1413169" cy="184666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5556C31-358B-5CBA-C338-45A908FC67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42539" y="1804470"/>
                <a:ext cx="451356" cy="0"/>
              </a:xfrm>
              <a:prstGeom prst="line">
                <a:avLst/>
              </a:prstGeom>
              <a:ln w="12700">
                <a:solidFill>
                  <a:srgbClr val="027DBB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2EEA74C-E62C-BD77-034A-DA50D31960A4}"/>
                  </a:ext>
                </a:extLst>
              </p:cNvPr>
              <p:cNvSpPr txBox="1"/>
              <p:nvPr/>
            </p:nvSpPr>
            <p:spPr>
              <a:xfrm>
                <a:off x="3880726" y="1703671"/>
                <a:ext cx="108624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00" b="1" dirty="0">
                    <a:solidFill>
                      <a:srgbClr val="027DBB"/>
                    </a:solidFill>
                  </a:rPr>
                  <a:t>TLR7-agonist  (GS-986)</a:t>
                </a: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D56675D-735E-C745-09B3-A933723D1185}"/>
                </a:ext>
              </a:extLst>
            </p:cNvPr>
            <p:cNvGrpSpPr/>
            <p:nvPr/>
          </p:nvGrpSpPr>
          <p:grpSpPr>
            <a:xfrm>
              <a:off x="4266063" y="1923216"/>
              <a:ext cx="796925" cy="151462"/>
              <a:chOff x="4266063" y="1891500"/>
              <a:chExt cx="796925" cy="151462"/>
            </a:xfrm>
          </p:grpSpPr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854DD216-9A7E-2CC8-2466-7E43A32509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6063" y="1891500"/>
                <a:ext cx="0" cy="151462"/>
              </a:xfrm>
              <a:prstGeom prst="straightConnector1">
                <a:avLst/>
              </a:prstGeom>
              <a:ln w="9525">
                <a:solidFill>
                  <a:srgbClr val="FCBB12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342BCCA9-7667-6E5C-7C44-7A69EA2C65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32763" y="1891500"/>
                <a:ext cx="0" cy="151462"/>
              </a:xfrm>
              <a:prstGeom prst="straightConnector1">
                <a:avLst/>
              </a:prstGeom>
              <a:ln w="9525">
                <a:solidFill>
                  <a:srgbClr val="FCBB12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EE610947-58B5-CBAF-0691-3B43FA7A7A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2638" y="1891500"/>
                <a:ext cx="0" cy="151462"/>
              </a:xfrm>
              <a:prstGeom prst="straightConnector1">
                <a:avLst/>
              </a:prstGeom>
              <a:ln w="9525">
                <a:solidFill>
                  <a:srgbClr val="FCBB12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52B10459-2186-15D6-EF4D-8A8D603B71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2988" y="1891500"/>
                <a:ext cx="0" cy="151462"/>
              </a:xfrm>
              <a:prstGeom prst="straightConnector1">
                <a:avLst/>
              </a:prstGeom>
              <a:ln w="9525">
                <a:solidFill>
                  <a:srgbClr val="FCBB12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5981126-40E5-886B-4515-FC16616387BF}"/>
                </a:ext>
              </a:extLst>
            </p:cNvPr>
            <p:cNvSpPr txBox="1"/>
            <p:nvPr/>
          </p:nvSpPr>
          <p:spPr>
            <a:xfrm>
              <a:off x="3856184" y="1760718"/>
              <a:ext cx="10862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 dirty="0">
                  <a:solidFill>
                    <a:srgbClr val="FCBB12"/>
                  </a:solidFill>
                </a:rPr>
                <a:t>Vaccine prime</a:t>
              </a:r>
            </a:p>
            <a:p>
              <a:pPr algn="ctr"/>
              <a:r>
                <a:rPr lang="en-US" sz="600" b="1" dirty="0">
                  <a:solidFill>
                    <a:srgbClr val="FCBB12"/>
                  </a:solidFill>
                </a:rPr>
                <a:t>(Ad26)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B6EFE83-7596-2307-FE66-71A9548723E7}"/>
                </a:ext>
              </a:extLst>
            </p:cNvPr>
            <p:cNvSpPr txBox="1"/>
            <p:nvPr/>
          </p:nvSpPr>
          <p:spPr>
            <a:xfrm>
              <a:off x="4391619" y="1760718"/>
              <a:ext cx="10862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 dirty="0">
                  <a:solidFill>
                    <a:srgbClr val="FCBB12"/>
                  </a:solidFill>
                </a:rPr>
                <a:t>Vaccine boost</a:t>
              </a:r>
            </a:p>
            <a:p>
              <a:pPr algn="ctr"/>
              <a:r>
                <a:rPr lang="en-US" sz="600" b="1" dirty="0">
                  <a:solidFill>
                    <a:srgbClr val="FCBB12"/>
                  </a:solidFill>
                </a:rPr>
                <a:t>(MVA)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7F4DC2F-5D32-ABED-792E-F24A7AA130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06" t="35827" r="88033" b="56919"/>
            <a:stretch/>
          </p:blipFill>
          <p:spPr>
            <a:xfrm>
              <a:off x="2571104" y="2081009"/>
              <a:ext cx="701365" cy="417267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C07168A-E220-7458-D13F-17C96342AD7E}"/>
                </a:ext>
              </a:extLst>
            </p:cNvPr>
            <p:cNvSpPr txBox="1"/>
            <p:nvPr/>
          </p:nvSpPr>
          <p:spPr>
            <a:xfrm>
              <a:off x="2441838" y="1202982"/>
              <a:ext cx="1475295" cy="4292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b="1" dirty="0"/>
                <a:t>Study 2:</a:t>
              </a:r>
            </a:p>
            <a:p>
              <a:r>
                <a:rPr lang="en-US" sz="700" dirty="0"/>
                <a:t>SIV-TLR7-VAC</a:t>
              </a:r>
            </a:p>
            <a:p>
              <a:r>
                <a:rPr lang="en-US" sz="700" dirty="0"/>
                <a:t>(</a:t>
              </a:r>
              <a:r>
                <a:rPr lang="en-US" sz="700" dirty="0" err="1"/>
                <a:t>Borducchi</a:t>
              </a:r>
              <a:r>
                <a:rPr lang="en-US" sz="700" dirty="0"/>
                <a:t>, Nature, ‘16)</a:t>
              </a:r>
              <a:r>
                <a:rPr lang="en-US" sz="700" b="1" dirty="0"/>
                <a:t> </a:t>
              </a:r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E00A4F54-1602-3266-32A9-335D97B550AE}"/>
                </a:ext>
              </a:extLst>
            </p:cNvPr>
            <p:cNvGrpSpPr/>
            <p:nvPr/>
          </p:nvGrpSpPr>
          <p:grpSpPr>
            <a:xfrm>
              <a:off x="3482443" y="3610234"/>
              <a:ext cx="1808857" cy="446256"/>
              <a:chOff x="3482443" y="3610234"/>
              <a:chExt cx="1808857" cy="446256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B0DD205C-8E9E-6BF3-E4C8-74068E81E2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58317" y="3961096"/>
                <a:ext cx="1532983" cy="0"/>
              </a:xfrm>
              <a:prstGeom prst="line">
                <a:avLst/>
              </a:prstGeom>
              <a:ln w="12700">
                <a:solidFill>
                  <a:srgbClr val="CB273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29DC2DC-D220-BC66-56AD-8D424E611156}"/>
                  </a:ext>
                </a:extLst>
              </p:cNvPr>
              <p:cNvSpPr txBox="1"/>
              <p:nvPr/>
            </p:nvSpPr>
            <p:spPr>
              <a:xfrm>
                <a:off x="3482443" y="3865703"/>
                <a:ext cx="395688" cy="1907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00" b="1" dirty="0">
                    <a:solidFill>
                      <a:srgbClr val="C00000"/>
                    </a:solidFill>
                  </a:rPr>
                  <a:t>ART</a:t>
                </a:r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A011A339-5880-3E33-A984-DB257D9EC757}"/>
                  </a:ext>
                </a:extLst>
              </p:cNvPr>
              <p:cNvGrpSpPr/>
              <p:nvPr/>
            </p:nvGrpSpPr>
            <p:grpSpPr>
              <a:xfrm>
                <a:off x="3613449" y="3610234"/>
                <a:ext cx="1384861" cy="276999"/>
                <a:chOff x="3827809" y="1772557"/>
                <a:chExt cx="1384861" cy="276999"/>
              </a:xfrm>
            </p:grpSpPr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8E3C042F-6977-CE51-D41E-6AA6437C96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42539" y="1911056"/>
                  <a:ext cx="370131" cy="0"/>
                </a:xfrm>
                <a:prstGeom prst="line">
                  <a:avLst/>
                </a:prstGeom>
                <a:ln w="12700">
                  <a:solidFill>
                    <a:srgbClr val="027DBB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965FA7B7-51E2-1DE3-4E16-D1DD5EC6C577}"/>
                    </a:ext>
                  </a:extLst>
                </p:cNvPr>
                <p:cNvSpPr txBox="1"/>
                <p:nvPr/>
              </p:nvSpPr>
              <p:spPr>
                <a:xfrm>
                  <a:off x="3827809" y="1772557"/>
                  <a:ext cx="108624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600" b="1" dirty="0">
                      <a:solidFill>
                        <a:srgbClr val="027DBB"/>
                      </a:solidFill>
                    </a:rPr>
                    <a:t>TLR7-agonist  </a:t>
                  </a:r>
                </a:p>
                <a:p>
                  <a:pPr algn="r"/>
                  <a:r>
                    <a:rPr lang="en-US" sz="600" b="1" dirty="0">
                      <a:solidFill>
                        <a:srgbClr val="027DBB"/>
                      </a:solidFill>
                    </a:rPr>
                    <a:t>(GS-9620)</a:t>
                  </a:r>
                </a:p>
              </p:txBody>
            </p:sp>
          </p:grp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C8211DD-3259-2BB2-1724-529F18CAFE47}"/>
                  </a:ext>
                </a:extLst>
              </p:cNvPr>
              <p:cNvSpPr txBox="1"/>
              <p:nvPr/>
            </p:nvSpPr>
            <p:spPr>
              <a:xfrm>
                <a:off x="3812102" y="3802193"/>
                <a:ext cx="108624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600" b="1" dirty="0">
                    <a:solidFill>
                      <a:srgbClr val="FC12A7"/>
                    </a:solidFill>
                  </a:rPr>
                  <a:t>Antibody (PGT121)</a:t>
                </a:r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9A3E96C5-6755-C415-F851-C51179B2BA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19374" y="3894526"/>
                <a:ext cx="155448" cy="0"/>
              </a:xfrm>
              <a:prstGeom prst="line">
                <a:avLst/>
              </a:prstGeom>
              <a:ln w="12700">
                <a:solidFill>
                  <a:srgbClr val="FC12A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D13DEFA0-8C3C-31F6-F933-5E6DDF800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5177" r="79218" b="94114"/>
            <a:stretch/>
          </p:blipFill>
          <p:spPr>
            <a:xfrm>
              <a:off x="3538804" y="3598148"/>
              <a:ext cx="322264" cy="281997"/>
            </a:xfrm>
            <a:prstGeom prst="rect">
              <a:avLst/>
            </a:prstGeom>
          </p:spPr>
        </p:pic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7575F096-643B-8012-DD64-1B3E7550F752}"/>
                </a:ext>
              </a:extLst>
            </p:cNvPr>
            <p:cNvSpPr txBox="1"/>
            <p:nvPr/>
          </p:nvSpPr>
          <p:spPr>
            <a:xfrm>
              <a:off x="2441838" y="3090917"/>
              <a:ext cx="1475295" cy="4292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b="1" dirty="0"/>
                <a:t>Study 3:</a:t>
              </a:r>
            </a:p>
            <a:p>
              <a:r>
                <a:rPr lang="en-US" sz="700" dirty="0"/>
                <a:t>SHIV-TLR7-AB</a:t>
              </a:r>
            </a:p>
            <a:p>
              <a:r>
                <a:rPr lang="en-US" sz="700" dirty="0"/>
                <a:t>(</a:t>
              </a:r>
              <a:r>
                <a:rPr lang="en-US" sz="700" dirty="0" err="1"/>
                <a:t>Borducchi</a:t>
              </a:r>
              <a:r>
                <a:rPr lang="en-US" sz="700" dirty="0"/>
                <a:t>, Nature, ‘18)</a:t>
              </a:r>
              <a:r>
                <a:rPr lang="en-US" sz="700" b="1" dirty="0"/>
                <a:t> </a:t>
              </a: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998CEB6E-14A0-8368-FFAC-F7DFAFE08DA6}"/>
                </a:ext>
              </a:extLst>
            </p:cNvPr>
            <p:cNvGrpSpPr/>
            <p:nvPr/>
          </p:nvGrpSpPr>
          <p:grpSpPr>
            <a:xfrm>
              <a:off x="2664219" y="3922377"/>
              <a:ext cx="515135" cy="549674"/>
              <a:chOff x="2789931" y="3961071"/>
              <a:chExt cx="515135" cy="549674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ACE838E-10AC-0C32-4254-91CF7BE970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4749" t="73280" r="90552" b="20722"/>
              <a:stretch/>
            </p:blipFill>
            <p:spPr>
              <a:xfrm>
                <a:off x="2842049" y="3961071"/>
                <a:ext cx="387752" cy="412463"/>
              </a:xfrm>
              <a:prstGeom prst="rect">
                <a:avLst/>
              </a:prstGeom>
            </p:spPr>
          </p:pic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79CD0D09-1255-C77D-458A-42EDB54152B6}"/>
                  </a:ext>
                </a:extLst>
              </p:cNvPr>
              <p:cNvSpPr txBox="1"/>
              <p:nvPr/>
            </p:nvSpPr>
            <p:spPr>
              <a:xfrm>
                <a:off x="2789931" y="4310690"/>
                <a:ext cx="515135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00" dirty="0"/>
                  <a:t>PGT121</a:t>
                </a:r>
              </a:p>
            </p:txBody>
          </p:sp>
        </p:grp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1D3DE1B-8175-9EE4-5664-E593C6075010}"/>
                </a:ext>
              </a:extLst>
            </p:cNvPr>
            <p:cNvCxnSpPr>
              <a:cxnSpLocks/>
            </p:cNvCxnSpPr>
            <p:nvPr/>
          </p:nvCxnSpPr>
          <p:spPr>
            <a:xfrm>
              <a:off x="3765781" y="5798057"/>
              <a:ext cx="1641360" cy="0"/>
            </a:xfrm>
            <a:prstGeom prst="line">
              <a:avLst/>
            </a:prstGeom>
            <a:ln w="12700">
              <a:solidFill>
                <a:srgbClr val="CB273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94CC9810-4ACC-262B-359E-7277519FD7B1}"/>
                </a:ext>
              </a:extLst>
            </p:cNvPr>
            <p:cNvSpPr txBox="1"/>
            <p:nvPr/>
          </p:nvSpPr>
          <p:spPr>
            <a:xfrm>
              <a:off x="3489907" y="5702664"/>
              <a:ext cx="395688" cy="190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 dirty="0">
                  <a:solidFill>
                    <a:srgbClr val="C00000"/>
                  </a:solidFill>
                </a:rPr>
                <a:t>ART</a:t>
              </a:r>
            </a:p>
          </p:txBody>
        </p: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16BD88A8-492E-BB07-247F-E0FD0D7DF9FC}"/>
                </a:ext>
              </a:extLst>
            </p:cNvPr>
            <p:cNvGrpSpPr/>
            <p:nvPr/>
          </p:nvGrpSpPr>
          <p:grpSpPr>
            <a:xfrm>
              <a:off x="3489907" y="5234736"/>
              <a:ext cx="1645083" cy="184666"/>
              <a:chOff x="3629965" y="1803129"/>
              <a:chExt cx="1645083" cy="184666"/>
            </a:xfrm>
          </p:grpSpPr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18AFA097-0169-A1F2-0D6E-D1A063E50D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51125" y="1895462"/>
                <a:ext cx="423923" cy="0"/>
              </a:xfrm>
              <a:prstGeom prst="line">
                <a:avLst/>
              </a:prstGeom>
              <a:ln w="12700">
                <a:solidFill>
                  <a:srgbClr val="027DBB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12BAC40-0D7F-787C-A2C8-E2FC6B4AB706}"/>
                  </a:ext>
                </a:extLst>
              </p:cNvPr>
              <p:cNvSpPr txBox="1"/>
              <p:nvPr/>
            </p:nvSpPr>
            <p:spPr>
              <a:xfrm>
                <a:off x="3629965" y="1803129"/>
                <a:ext cx="1284088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600" b="1" dirty="0">
                    <a:solidFill>
                      <a:srgbClr val="027DBB"/>
                    </a:solidFill>
                  </a:rPr>
                  <a:t>TLR7-agonist  (GS-9620)</a:t>
                </a:r>
              </a:p>
            </p:txBody>
          </p: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A2208A1C-5793-A7A5-672F-AE590DB057A7}"/>
                </a:ext>
              </a:extLst>
            </p:cNvPr>
            <p:cNvGrpSpPr/>
            <p:nvPr/>
          </p:nvGrpSpPr>
          <p:grpSpPr>
            <a:xfrm>
              <a:off x="3955098" y="5617726"/>
              <a:ext cx="1171306" cy="184666"/>
              <a:chOff x="3955098" y="5639158"/>
              <a:chExt cx="1171306" cy="184666"/>
            </a:xfrm>
          </p:grpSpPr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D91B35C1-A77E-65C4-A0E1-2492674E971D}"/>
                  </a:ext>
                </a:extLst>
              </p:cNvPr>
              <p:cNvSpPr txBox="1"/>
              <p:nvPr/>
            </p:nvSpPr>
            <p:spPr>
              <a:xfrm>
                <a:off x="3955098" y="5639158"/>
                <a:ext cx="108624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600" b="1" dirty="0">
                    <a:solidFill>
                      <a:srgbClr val="FC12A7"/>
                    </a:solidFill>
                  </a:rPr>
                  <a:t>Antibody (PGT121)</a:t>
                </a:r>
              </a:p>
            </p:txBody>
          </p: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AE143EE9-73DC-640D-E35E-AF7F5C0CE2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0956" y="5731491"/>
                <a:ext cx="155448" cy="0"/>
              </a:xfrm>
              <a:prstGeom prst="line">
                <a:avLst/>
              </a:prstGeom>
              <a:ln w="12700">
                <a:solidFill>
                  <a:srgbClr val="FC12A7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7393F349-35D6-B0A6-59B3-D5D98C3C4465}"/>
                </a:ext>
              </a:extLst>
            </p:cNvPr>
            <p:cNvGrpSpPr/>
            <p:nvPr/>
          </p:nvGrpSpPr>
          <p:grpSpPr>
            <a:xfrm>
              <a:off x="3967771" y="5358679"/>
              <a:ext cx="1199572" cy="275874"/>
              <a:chOff x="3967771" y="5317092"/>
              <a:chExt cx="1199572" cy="275874"/>
            </a:xfrm>
          </p:grpSpPr>
          <p:cxnSp>
            <p:nvCxnSpPr>
              <p:cNvPr id="127" name="Straight Arrow Connector 126">
                <a:extLst>
                  <a:ext uri="{FF2B5EF4-FFF2-40B4-BE49-F238E27FC236}">
                    <a16:creationId xmlns:a16="http://schemas.microsoft.com/office/drawing/2014/main" id="{0E7D13F9-6079-048D-8CAC-269017855F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06084" y="5441504"/>
                <a:ext cx="0" cy="151462"/>
              </a:xfrm>
              <a:prstGeom prst="straightConnector1">
                <a:avLst/>
              </a:prstGeom>
              <a:ln w="9525">
                <a:solidFill>
                  <a:srgbClr val="FCBB12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Arrow Connector 127">
                <a:extLst>
                  <a:ext uri="{FF2B5EF4-FFF2-40B4-BE49-F238E27FC236}">
                    <a16:creationId xmlns:a16="http://schemas.microsoft.com/office/drawing/2014/main" id="{45911CA4-6706-148E-FDB9-434CE48CB8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8671" y="5441504"/>
                <a:ext cx="0" cy="151462"/>
              </a:xfrm>
              <a:prstGeom prst="straightConnector1">
                <a:avLst/>
              </a:prstGeom>
              <a:ln w="9525">
                <a:solidFill>
                  <a:srgbClr val="FCBB12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Arrow Connector 128">
                <a:extLst>
                  <a:ext uri="{FF2B5EF4-FFF2-40B4-BE49-F238E27FC236}">
                    <a16:creationId xmlns:a16="http://schemas.microsoft.com/office/drawing/2014/main" id="{A9DC2CAB-780F-E68F-FC37-7C6A31476D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65616" y="5441504"/>
                <a:ext cx="0" cy="151462"/>
              </a:xfrm>
              <a:prstGeom prst="straightConnector1">
                <a:avLst/>
              </a:prstGeom>
              <a:ln w="9525">
                <a:solidFill>
                  <a:srgbClr val="FCBB12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D1FA993F-F6FA-7323-E2A8-EBBDC4C0FF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0208" y="5441504"/>
                <a:ext cx="0" cy="151462"/>
              </a:xfrm>
              <a:prstGeom prst="straightConnector1">
                <a:avLst/>
              </a:prstGeom>
              <a:ln w="9525">
                <a:solidFill>
                  <a:srgbClr val="FCBB12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995342D0-4958-6AFB-8E9B-D54208FF49C4}"/>
                  </a:ext>
                </a:extLst>
              </p:cNvPr>
              <p:cNvSpPr txBox="1"/>
              <p:nvPr/>
            </p:nvSpPr>
            <p:spPr>
              <a:xfrm>
                <a:off x="3967771" y="5317092"/>
                <a:ext cx="7151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500" b="1" dirty="0">
                    <a:solidFill>
                      <a:srgbClr val="FCBB12"/>
                    </a:solidFill>
                  </a:rPr>
                  <a:t>Vaccine prime</a:t>
                </a:r>
              </a:p>
              <a:p>
                <a:pPr algn="ctr"/>
                <a:r>
                  <a:rPr lang="en-US" sz="500" b="1" dirty="0">
                    <a:solidFill>
                      <a:srgbClr val="FCBB12"/>
                    </a:solidFill>
                  </a:rPr>
                  <a:t>(Ad26)</a:t>
                </a: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76D7D94-8EC2-FFC5-F9C5-824BC2638831}"/>
                  </a:ext>
                </a:extLst>
              </p:cNvPr>
              <p:cNvSpPr txBox="1"/>
              <p:nvPr/>
            </p:nvSpPr>
            <p:spPr>
              <a:xfrm>
                <a:off x="4411021" y="5320548"/>
                <a:ext cx="75632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500" b="1" dirty="0">
                    <a:solidFill>
                      <a:srgbClr val="FCBB12"/>
                    </a:solidFill>
                  </a:rPr>
                  <a:t>Vaccine  boost</a:t>
                </a:r>
              </a:p>
              <a:p>
                <a:pPr algn="ctr"/>
                <a:r>
                  <a:rPr lang="en-US" sz="500" b="1" dirty="0">
                    <a:solidFill>
                      <a:srgbClr val="FCBB12"/>
                    </a:solidFill>
                  </a:rPr>
                  <a:t>(MVA)</a:t>
                </a:r>
              </a:p>
            </p:txBody>
          </p:sp>
        </p:grpSp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6876BADA-098B-A205-CF4A-941CF6B113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5177" r="79218" b="94114"/>
            <a:stretch/>
          </p:blipFill>
          <p:spPr>
            <a:xfrm>
              <a:off x="3538804" y="5445937"/>
              <a:ext cx="322264" cy="281997"/>
            </a:xfrm>
            <a:prstGeom prst="rect">
              <a:avLst/>
            </a:prstGeom>
          </p:spPr>
        </p:pic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3E75BEC-6330-31D0-9F24-0CD2D3380209}"/>
                </a:ext>
              </a:extLst>
            </p:cNvPr>
            <p:cNvSpPr txBox="1"/>
            <p:nvPr/>
          </p:nvSpPr>
          <p:spPr>
            <a:xfrm>
              <a:off x="2445075" y="4926006"/>
              <a:ext cx="1475295" cy="4292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b="1" dirty="0"/>
                <a:t>Study 4:</a:t>
              </a:r>
            </a:p>
            <a:p>
              <a:r>
                <a:rPr lang="en-US" sz="700" dirty="0"/>
                <a:t>SHIV-TLR7-VAC-AB</a:t>
              </a:r>
            </a:p>
            <a:p>
              <a:r>
                <a:rPr lang="en-US" sz="700" dirty="0"/>
                <a:t>(Walker-Sperling, Nat Com, ‘22)</a:t>
              </a:r>
              <a:r>
                <a:rPr lang="en-US" sz="700" b="1" dirty="0"/>
                <a:t> </a:t>
              </a:r>
            </a:p>
          </p:txBody>
        </p: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3A6E416F-C9B1-91CA-C346-2D5B64B28A05}"/>
                </a:ext>
              </a:extLst>
            </p:cNvPr>
            <p:cNvGrpSpPr/>
            <p:nvPr/>
          </p:nvGrpSpPr>
          <p:grpSpPr>
            <a:xfrm>
              <a:off x="2664219" y="6184739"/>
              <a:ext cx="515135" cy="549674"/>
              <a:chOff x="2789931" y="3961071"/>
              <a:chExt cx="515135" cy="549674"/>
            </a:xfrm>
          </p:grpSpPr>
          <p:pic>
            <p:nvPicPr>
              <p:cNvPr id="141" name="Picture 140">
                <a:extLst>
                  <a:ext uri="{FF2B5EF4-FFF2-40B4-BE49-F238E27FC236}">
                    <a16:creationId xmlns:a16="http://schemas.microsoft.com/office/drawing/2014/main" id="{FA6DD056-DBF2-282F-C408-5FDB1BCDBF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4749" t="73280" r="90552" b="20722"/>
              <a:stretch/>
            </p:blipFill>
            <p:spPr>
              <a:xfrm>
                <a:off x="2842049" y="3961071"/>
                <a:ext cx="387752" cy="412463"/>
              </a:xfrm>
              <a:prstGeom prst="rect">
                <a:avLst/>
              </a:prstGeom>
            </p:spPr>
          </p:pic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F4022D06-6C87-0F3C-F897-E723820CF0D6}"/>
                  </a:ext>
                </a:extLst>
              </p:cNvPr>
              <p:cNvSpPr txBox="1"/>
              <p:nvPr/>
            </p:nvSpPr>
            <p:spPr>
              <a:xfrm>
                <a:off x="2789931" y="4310690"/>
                <a:ext cx="515135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00" dirty="0"/>
                  <a:t>PGT121</a:t>
                </a:r>
              </a:p>
            </p:txBody>
          </p:sp>
        </p:grpSp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6B0B950C-2191-EE17-284E-934F24116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06" t="35827" r="88033" b="56919"/>
            <a:stretch/>
          </p:blipFill>
          <p:spPr>
            <a:xfrm>
              <a:off x="2571104" y="5813521"/>
              <a:ext cx="701365" cy="417267"/>
            </a:xfrm>
            <a:prstGeom prst="rect">
              <a:avLst/>
            </a:prstGeom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4ED9284F-A5BF-F833-3CA4-60DB196C66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95" t="8450" r="87604" b="83539"/>
            <a:stretch/>
          </p:blipFill>
          <p:spPr>
            <a:xfrm>
              <a:off x="2497680" y="1591543"/>
              <a:ext cx="848212" cy="501103"/>
            </a:xfrm>
            <a:prstGeom prst="rect">
              <a:avLst/>
            </a:prstGeom>
          </p:spPr>
        </p:pic>
        <p:pic>
          <p:nvPicPr>
            <p:cNvPr id="145" name="Picture 144">
              <a:extLst>
                <a:ext uri="{FF2B5EF4-FFF2-40B4-BE49-F238E27FC236}">
                  <a16:creationId xmlns:a16="http://schemas.microsoft.com/office/drawing/2014/main" id="{2822EBB7-7262-DA98-EB94-5734B5987B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95" t="8450" r="87604" b="83539"/>
            <a:stretch/>
          </p:blipFill>
          <p:spPr>
            <a:xfrm>
              <a:off x="2497680" y="3530046"/>
              <a:ext cx="848212" cy="501103"/>
            </a:xfrm>
            <a:prstGeom prst="rect">
              <a:avLst/>
            </a:prstGeom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A009BBF2-1C43-EED2-BF4C-8212928C89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95" t="8450" r="87604" b="83539"/>
            <a:stretch/>
          </p:blipFill>
          <p:spPr>
            <a:xfrm>
              <a:off x="2497680" y="5336735"/>
              <a:ext cx="848212" cy="5011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2057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D2D8AE8-061C-D105-D8F7-F6F055C033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" t="-619" r="32" b="683"/>
          <a:stretch/>
        </p:blipFill>
        <p:spPr>
          <a:xfrm>
            <a:off x="1033669" y="205408"/>
            <a:ext cx="7977809" cy="66525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1C9FE0-E525-181F-B259-2AFE6A086140}"/>
              </a:ext>
            </a:extLst>
          </p:cNvPr>
          <p:cNvSpPr txBox="1"/>
          <p:nvPr/>
        </p:nvSpPr>
        <p:spPr>
          <a:xfrm>
            <a:off x="9394521" y="638826"/>
            <a:ext cx="142796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/>
              <a:t>Study 1:</a:t>
            </a:r>
          </a:p>
          <a:p>
            <a:r>
              <a:rPr lang="en-US" sz="700" dirty="0"/>
              <a:t>SIV-TLR7</a:t>
            </a:r>
          </a:p>
          <a:p>
            <a:r>
              <a:rPr lang="en-US" sz="700" dirty="0"/>
              <a:t>(Lim, Sci Trans Med ‘18)</a:t>
            </a:r>
            <a:r>
              <a:rPr lang="en-US" sz="7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5771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E16BB4-F93E-73F0-0E0D-9F92E3C67A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77" r="79218" b="94114"/>
          <a:stretch/>
        </p:blipFill>
        <p:spPr>
          <a:xfrm>
            <a:off x="989755" y="219606"/>
            <a:ext cx="447747" cy="3918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DE704A-962D-3B2A-E113-3CC3914669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5" t="8450" r="87604" b="83539"/>
          <a:stretch/>
        </p:blipFill>
        <p:spPr>
          <a:xfrm>
            <a:off x="659958" y="1041620"/>
            <a:ext cx="902694" cy="5332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49DE78-26AF-E9ED-53C6-02257F1CEE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6" t="35827" r="88033" b="56919"/>
          <a:stretch/>
        </p:blipFill>
        <p:spPr>
          <a:xfrm>
            <a:off x="1156822" y="1763680"/>
            <a:ext cx="811660" cy="4828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93FA4B-F1B4-6D77-1490-0714EB5C4A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6" t="73280" r="86894" b="18657"/>
          <a:stretch/>
        </p:blipFill>
        <p:spPr>
          <a:xfrm>
            <a:off x="1111305" y="2435335"/>
            <a:ext cx="902694" cy="53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682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219</Words>
  <Application>Microsoft Macintosh PowerPoint</Application>
  <PresentationFormat>Widescreen</PresentationFormat>
  <Paragraphs>71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Madeleine Gastonguay</dc:creator>
  <cp:lastModifiedBy>Madeleine Gastonguay</cp:lastModifiedBy>
  <cp:revision>4</cp:revision>
  <dcterms:created xsi:type="dcterms:W3CDTF">2025-10-16T18:31:44Z</dcterms:created>
  <dcterms:modified xsi:type="dcterms:W3CDTF">2025-10-23T18:36:09Z</dcterms:modified>
</cp:coreProperties>
</file>